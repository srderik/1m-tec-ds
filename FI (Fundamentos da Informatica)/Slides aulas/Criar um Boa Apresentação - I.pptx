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9" r:id="rId3"/>
    <p:sldId id="261" r:id="rId4"/>
    <p:sldId id="262" r:id="rId5"/>
    <p:sldId id="263" r:id="rId6"/>
    <p:sldId id="264" r:id="rId7"/>
    <p:sldId id="265" r:id="rId8"/>
    <p:sldId id="268" r:id="rId9"/>
    <p:sldId id="266" r:id="rId10"/>
    <p:sldId id="267" r:id="rId11"/>
    <p:sldId id="271" r:id="rId12"/>
    <p:sldId id="270" r:id="rId13"/>
    <p:sldId id="272" r:id="rId14"/>
    <p:sldId id="273" r:id="rId15"/>
    <p:sldId id="274" r:id="rId16"/>
    <p:sldId id="275" r:id="rId17"/>
    <p:sldId id="276" r:id="rId18"/>
    <p:sldId id="257" r:id="rId19"/>
    <p:sldId id="258" r:id="rId20"/>
    <p:sldId id="260" r:id="rId21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4" autoAdjust="0"/>
    <p:restoredTop sz="94660"/>
  </p:normalViewPr>
  <p:slideViewPr>
    <p:cSldViewPr>
      <p:cViewPr>
        <p:scale>
          <a:sx n="65" d="100"/>
          <a:sy n="65" d="100"/>
        </p:scale>
        <p:origin x="-140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B7EF1-C380-4EE6-B7DB-8B256279022D}" type="datetimeFigureOut">
              <a:rPr lang="pt-PT" smtClean="0"/>
              <a:t>05-11-2013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E3854-A045-46AF-AE35-4C952DE5C5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4601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752475" cy="6858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  <a:gs pos="100000">
                <a:schemeClr val="accent6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innerShdw blurRad="190500" dist="25400">
              <a:prstClr val="black">
                <a:alpha val="6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152" y="1267485"/>
            <a:ext cx="7235981" cy="5133316"/>
          </a:xfrm>
        </p:spPr>
        <p:txBody>
          <a:bodyPr/>
          <a:lstStyle>
            <a:lvl1pPr>
              <a:defRPr sz="1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151" y="201702"/>
            <a:ext cx="6189583" cy="949569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32402-8857-4099-BF3A-04BD8EFF2176}" type="datetime1">
              <a:rPr lang="pt-PT" smtClean="0"/>
              <a:t>05-11-2013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BE/CRE D. CARLOS I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0469" y="236415"/>
            <a:ext cx="785301" cy="365125"/>
          </a:xfrm>
        </p:spPr>
        <p:txBody>
          <a:bodyPr/>
          <a:lstStyle>
            <a:lvl1pPr>
              <a:defRPr sz="1400"/>
            </a:lvl1pPr>
          </a:lstStyle>
          <a:p>
            <a:fld id="{3331964E-BB04-4792-805E-46A67BAFD247}" type="slidenum">
              <a:rPr lang="pt-PT" smtClean="0"/>
              <a:t>‹nº›</a:t>
            </a:fld>
            <a:endParaRPr lang="pt-PT"/>
          </a:p>
        </p:txBody>
      </p:sp>
      <p:grpSp>
        <p:nvGrpSpPr>
          <p:cNvPr id="7" name="Group 6"/>
          <p:cNvGrpSpPr/>
          <p:nvPr/>
        </p:nvGrpSpPr>
        <p:grpSpPr>
          <a:xfrm>
            <a:off x="7467600" y="209550"/>
            <a:ext cx="657226" cy="431800"/>
            <a:chOff x="7467600" y="209550"/>
            <a:chExt cx="657226" cy="431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7467600" y="209550"/>
              <a:ext cx="242887" cy="431800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0" y="0"/>
                </a:cxn>
                <a:cxn ang="0">
                  <a:pos x="89" y="136"/>
                </a:cxn>
                <a:cxn ang="0">
                  <a:pos x="89" y="136"/>
                </a:cxn>
                <a:cxn ang="0">
                  <a:pos x="0" y="272"/>
                </a:cxn>
                <a:cxn ang="0">
                  <a:pos x="62" y="272"/>
                </a:cxn>
                <a:cxn ang="0">
                  <a:pos x="153" y="136"/>
                </a:cxn>
                <a:cxn ang="0">
                  <a:pos x="62" y="0"/>
                </a:cxn>
              </a:cxnLst>
              <a:rect l="0" t="0" r="r" b="b"/>
              <a:pathLst>
                <a:path w="153" h="272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7677151" y="209550"/>
              <a:ext cx="242887" cy="431800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0" y="0"/>
                </a:cxn>
                <a:cxn ang="0">
                  <a:pos x="89" y="136"/>
                </a:cxn>
                <a:cxn ang="0">
                  <a:pos x="89" y="136"/>
                </a:cxn>
                <a:cxn ang="0">
                  <a:pos x="0" y="272"/>
                </a:cxn>
                <a:cxn ang="0">
                  <a:pos x="62" y="272"/>
                </a:cxn>
                <a:cxn ang="0">
                  <a:pos x="153" y="136"/>
                </a:cxn>
                <a:cxn ang="0">
                  <a:pos x="62" y="0"/>
                </a:cxn>
              </a:cxnLst>
              <a:rect l="0" t="0" r="r" b="b"/>
              <a:pathLst>
                <a:path w="153" h="272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7881939" y="209550"/>
              <a:ext cx="242887" cy="431800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0" y="0"/>
                </a:cxn>
                <a:cxn ang="0">
                  <a:pos x="89" y="136"/>
                </a:cxn>
                <a:cxn ang="0">
                  <a:pos x="89" y="136"/>
                </a:cxn>
                <a:cxn ang="0">
                  <a:pos x="0" y="272"/>
                </a:cxn>
                <a:cxn ang="0">
                  <a:pos x="62" y="272"/>
                </a:cxn>
                <a:cxn ang="0">
                  <a:pos x="153" y="136"/>
                </a:cxn>
                <a:cxn ang="0">
                  <a:pos x="62" y="0"/>
                </a:cxn>
              </a:cxnLst>
              <a:rect l="0" t="0" r="r" b="b"/>
              <a:pathLst>
                <a:path w="153" h="272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</p:spPr>
        <p:txBody>
          <a:bodyPr>
            <a:noAutofit/>
          </a:bodyPr>
          <a:lstStyle>
            <a:lvl1pPr algn="l">
              <a:defRPr sz="7200" baseline="0">
                <a:ln w="12700">
                  <a:solidFill>
                    <a:schemeClr val="tx2"/>
                  </a:solidFill>
                </a:ln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838200"/>
            <a:ext cx="7467600" cy="441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A968B-8341-47E1-B355-0DC1E4B5C434}" type="datetime1">
              <a:rPr lang="pt-PT" smtClean="0"/>
              <a:t>05-11-2013</a:t>
            </a:fld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‹nº›</a:t>
            </a:fld>
            <a:endParaRPr lang="pt-P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pt-PT" smtClean="0"/>
              <a:t>BE/CRE D. CARLOS I</a:t>
            </a:r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199" y="4484080"/>
            <a:ext cx="7239001" cy="762000"/>
          </a:xfrm>
        </p:spPr>
        <p:txBody>
          <a:bodyPr bIns="0"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</p:spPr>
        <p:txBody>
          <a:bodyPr>
            <a:noAutofit/>
          </a:bodyPr>
          <a:lstStyle>
            <a:lvl1pPr algn="l">
              <a:defRPr sz="7200" baseline="0">
                <a:ln w="12700">
                  <a:solidFill>
                    <a:schemeClr val="tx2"/>
                  </a:solidFill>
                </a:ln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2271-E8D0-4435-B110-549C1CB6EBFC}" type="datetime1">
              <a:rPr lang="pt-PT" smtClean="0"/>
              <a:t>05-11-2013</a:t>
            </a:fld>
            <a:endParaRPr lang="pt-PT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‹nº›</a:t>
            </a:fld>
            <a:endParaRPr lang="pt-PT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pt-PT" smtClean="0"/>
              <a:t>BE/CRE D. CARLOS I</a:t>
            </a:r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A88C7-FE81-4B0D-B5A3-08AFA0A34CC7}" type="datetime1">
              <a:rPr lang="pt-PT" smtClean="0"/>
              <a:t>05-11-2013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BE/CRE D. CARLOS I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‹nº›</a:t>
            </a:fld>
            <a:endParaRPr lang="pt-PT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16152" y="841248"/>
            <a:ext cx="3730752" cy="4389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5102352" y="841248"/>
            <a:ext cx="3730752" cy="4389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841248"/>
            <a:ext cx="3733800" cy="533400"/>
          </a:xfrm>
        </p:spPr>
        <p:txBody>
          <a:bodyPr anchor="t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5400" y="841248"/>
            <a:ext cx="3735267" cy="533400"/>
          </a:xfrm>
        </p:spPr>
        <p:txBody>
          <a:bodyPr anchor="t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C5D41-FDAC-4DDD-9832-2CFAF1739179}" type="datetime1">
              <a:rPr lang="pt-PT" smtClean="0"/>
              <a:t>05-11-2013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BE/CRE D. CARLOS I</a:t>
            </a:r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‹nº›</a:t>
            </a:fld>
            <a:endParaRPr lang="pt-PT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16152" y="1380744"/>
            <a:ext cx="3730752" cy="3840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5102352" y="1380743"/>
            <a:ext cx="3730752" cy="3840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A9AEF-08AA-4E45-A1E7-C18E89F521CF}" type="datetime1">
              <a:rPr lang="pt-PT" smtClean="0"/>
              <a:t>05-11-2013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BE/CRE D. CARLOS I</a:t>
            </a:r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D49B-CAC0-40D6-BC09-98465FA567EB}" type="datetime1">
              <a:rPr lang="pt-PT" smtClean="0"/>
              <a:t>05-11-2013</a:t>
            </a:fld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‹nº›</a:t>
            </a:fld>
            <a:endParaRPr lang="pt-PT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pt-PT" smtClean="0"/>
              <a:t>BE/CRE D. CARLOS I</a:t>
            </a:r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0" y="395287"/>
            <a:ext cx="3008313" cy="1162050"/>
          </a:xfrm>
        </p:spPr>
        <p:txBody>
          <a:bodyPr anchor="b"/>
          <a:lstStyle>
            <a:lvl1pPr algn="l">
              <a:defRPr sz="2000" b="1">
                <a:ln>
                  <a:noFill/>
                </a:ln>
                <a:solidFill>
                  <a:srgbClr val="FF7605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1557337"/>
            <a:ext cx="3008313" cy="4386263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914400" y="381000"/>
            <a:ext cx="4800600" cy="5943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E3BF591-8DC2-4CF9-A7AF-377911CCC00D}" type="datetime1">
              <a:rPr lang="pt-PT" smtClean="0"/>
              <a:t>05-11-2013</a:t>
            </a:fld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‹nº›</a:t>
            </a:fld>
            <a:endParaRPr lang="pt-PT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pt-PT" smtClean="0"/>
              <a:t>BE/CRE D. CARLOS I</a:t>
            </a:r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624754"/>
            <a:ext cx="5486400" cy="404446"/>
          </a:xfrm>
        </p:spPr>
        <p:txBody>
          <a:bodyPr bIns="0" anchor="b"/>
          <a:lstStyle>
            <a:lvl1pPr algn="l">
              <a:defRPr sz="2000" b="1">
                <a:ln w="12700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23975" y="381000"/>
            <a:ext cx="5867400" cy="40814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029200"/>
            <a:ext cx="4038600" cy="1371600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4C52-EDE7-4E1C-9D2E-77F96A702555}" type="datetime1">
              <a:rPr lang="pt-PT" smtClean="0"/>
              <a:t>05-11-2013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BE/CRE D. CARLOS I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130A-C72D-4DDF-A9BF-5A3A251801B6}" type="datetime1">
              <a:rPr lang="pt-PT" smtClean="0"/>
              <a:t>05-11-2013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BE/CRE D. CARLOS I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1479-CA5F-4E6C-AE75-4E4B23EFED7F}" type="datetime1">
              <a:rPr lang="pt-PT" smtClean="0"/>
              <a:t>05-11-2013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BE/CRE D. CARLOS I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2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0"/>
          </a:gradFill>
          <a:ln>
            <a:noFill/>
          </a:ln>
          <a:effectLst>
            <a:innerShdw blurRad="190500" dist="25400">
              <a:prstClr val="black">
                <a:alpha val="6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  <a:gs pos="100000">
                <a:schemeClr val="accent6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innerShdw blurRad="190500" dist="25400">
              <a:prstClr val="black">
                <a:alpha val="6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pt-PT" smtClean="0"/>
              <a:t>BE/CRE D. CARLOS I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331964E-BB04-4792-805E-46A67BAFD247}" type="slidenum">
              <a:rPr lang="pt-PT" smtClean="0"/>
              <a:t>‹nº›</a:t>
            </a:fld>
            <a:endParaRPr lang="pt-PT"/>
          </a:p>
        </p:txBody>
      </p:sp>
      <p:sp>
        <p:nvSpPr>
          <p:cNvPr id="16" name="Freeform 5"/>
          <p:cNvSpPr>
            <a:spLocks/>
          </p:cNvSpPr>
          <p:nvPr/>
        </p:nvSpPr>
        <p:spPr bwMode="auto">
          <a:xfrm>
            <a:off x="8453438" y="5715000"/>
            <a:ext cx="242887" cy="431800"/>
          </a:xfrm>
          <a:custGeom>
            <a:avLst/>
            <a:gdLst/>
            <a:ahLst/>
            <a:cxnLst>
              <a:cxn ang="0">
                <a:pos x="62" y="0"/>
              </a:cxn>
              <a:cxn ang="0">
                <a:pos x="0" y="0"/>
              </a:cxn>
              <a:cxn ang="0">
                <a:pos x="89" y="136"/>
              </a:cxn>
              <a:cxn ang="0">
                <a:pos x="89" y="136"/>
              </a:cxn>
              <a:cxn ang="0">
                <a:pos x="0" y="272"/>
              </a:cxn>
              <a:cxn ang="0">
                <a:pos x="62" y="272"/>
              </a:cxn>
              <a:cxn ang="0">
                <a:pos x="153" y="136"/>
              </a:cxn>
              <a:cxn ang="0">
                <a:pos x="62" y="0"/>
              </a:cxn>
            </a:cxnLst>
            <a:rect l="0" t="0" r="r" b="b"/>
            <a:pathLst>
              <a:path w="153" h="272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1198682" y="4821116"/>
            <a:ext cx="262596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A092212-AF88-4179-A683-74C0D37E9016}" type="datetime1">
              <a:rPr lang="pt-PT" smtClean="0"/>
              <a:t>05-11-2013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7200" b="1" kern="1200">
          <a:ln w="12700">
            <a:solidFill>
              <a:schemeClr val="tx2"/>
            </a:solidFill>
          </a:ln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˃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&gt;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alibri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office.microsoft.com/pt-br/powerpoint-help/criar-uma-apresentacao-basica-em-powerpoint-2007-HA010194282.aspx#BM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://pt.wikipedia.org/wiki/V%C3%ADbora" TargetMode="External"/><Relationship Id="rId13" Type="http://schemas.openxmlformats.org/officeDocument/2006/relationships/hyperlink" Target="http://pt.wikipedia.org/wiki/Pinheiro-manso" TargetMode="External"/><Relationship Id="rId3" Type="http://schemas.openxmlformats.org/officeDocument/2006/relationships/hyperlink" Target="http://pt.wikipedia.org/wiki/Raposa" TargetMode="External"/><Relationship Id="rId7" Type="http://schemas.openxmlformats.org/officeDocument/2006/relationships/hyperlink" Target="http://pt.wikipedia.org/wiki/Falc%C3%A3o_peregrino" TargetMode="External"/><Relationship Id="rId12" Type="http://schemas.openxmlformats.org/officeDocument/2006/relationships/hyperlink" Target="http://pt.wikipedia.org/wiki/Sobreiro" TargetMode="External"/><Relationship Id="rId2" Type="http://schemas.openxmlformats.org/officeDocument/2006/relationships/hyperlink" Target="http://pt.wikipedia.org/wiki/Faun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t.wikipedia.org/wiki/Salamandra_(g%C3%A9nero)" TargetMode="External"/><Relationship Id="rId11" Type="http://schemas.openxmlformats.org/officeDocument/2006/relationships/hyperlink" Target="http://pt.wikipedia.org/wiki/Carvalho" TargetMode="External"/><Relationship Id="rId5" Type="http://schemas.openxmlformats.org/officeDocument/2006/relationships/hyperlink" Target="http://pt.wikipedia.org/wiki/Toupeira" TargetMode="External"/><Relationship Id="rId10" Type="http://schemas.openxmlformats.org/officeDocument/2006/relationships/hyperlink" Target="http://pt.wikipedia.org/wiki/Endemismos" TargetMode="External"/><Relationship Id="rId4" Type="http://schemas.openxmlformats.org/officeDocument/2006/relationships/hyperlink" Target="http://pt.wikipedia.org/wiki/Gineta" TargetMode="External"/><Relationship Id="rId9" Type="http://schemas.openxmlformats.org/officeDocument/2006/relationships/hyperlink" Target="http://pt.wikipedia.org/wiki/R%C3%A9pteis" TargetMode="External"/><Relationship Id="rId14" Type="http://schemas.openxmlformats.org/officeDocument/2006/relationships/hyperlink" Target="http://pt.wikipedia.org/wiki/Serra_de_Sintra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cadacriarsintra.blogs.sapo.pt/8316.htmhttp:/pt.wikipedia.org/wiki/Serra_de_Sintra" TargetMode="External"/><Relationship Id="rId2" Type="http://schemas.openxmlformats.org/officeDocument/2006/relationships/hyperlink" Target="http://www.slideshare.net/dimmisue/aprender-a-fazer-slides-com-o-power-poin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t.wikipedia.org/wiki/Serra_de_Sintra" TargetMode="External"/><Relationship Id="rId5" Type="http://schemas.openxmlformats.org/officeDocument/2006/relationships/hyperlink" Target="http://cadacriarsintra.blogs.sapo.pt/8316.htm" TargetMode="External"/><Relationship Id="rId4" Type="http://schemas.openxmlformats.org/officeDocument/2006/relationships/hyperlink" Target="http://office.microsoft.com/pt-br/powerpoint-help/criar-uma-apresentacao-basica-em-powerpoint-2007-HA010194282.asp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Cristina\Pictures\ppt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6000" contrast="4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52842"/>
            <a:ext cx="8172400" cy="6472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6037" y="692696"/>
            <a:ext cx="7235981" cy="2827785"/>
          </a:xfrm>
        </p:spPr>
        <p:txBody>
          <a:bodyPr>
            <a:noAutofit/>
          </a:bodyPr>
          <a:lstStyle/>
          <a:p>
            <a:r>
              <a:rPr lang="pt-PT" sz="5400" b="1" dirty="0" smtClean="0"/>
              <a:t>COMO FAZER UMA APRESENTAÇÃO EM POWERPOINT</a:t>
            </a:r>
            <a:endParaRPr lang="pt-PT"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1720" y="4581128"/>
            <a:ext cx="6400800" cy="913656"/>
          </a:xfrm>
        </p:spPr>
        <p:txBody>
          <a:bodyPr>
            <a:normAutofit/>
          </a:bodyPr>
          <a:lstStyle/>
          <a:p>
            <a:r>
              <a:rPr lang="pt-PT" b="1" dirty="0" smtClean="0">
                <a:solidFill>
                  <a:schemeClr val="tx1">
                    <a:lumMod val="75000"/>
                  </a:schemeClr>
                </a:solidFill>
              </a:rPr>
              <a:t>Dicas para usar o powerpoint e fazer </a:t>
            </a:r>
          </a:p>
          <a:p>
            <a:r>
              <a:rPr lang="pt-PT" b="1" dirty="0" smtClean="0">
                <a:solidFill>
                  <a:schemeClr val="tx1">
                    <a:lumMod val="75000"/>
                  </a:schemeClr>
                </a:solidFill>
              </a:rPr>
              <a:t>uma boa apresentação</a:t>
            </a:r>
            <a:endParaRPr lang="pt-PT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088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55576" y="3140968"/>
            <a:ext cx="7772400" cy="1362075"/>
          </a:xfrm>
        </p:spPr>
        <p:txBody>
          <a:bodyPr/>
          <a:lstStyle/>
          <a:p>
            <a:pPr algn="ctr"/>
            <a:r>
              <a:rPr lang="pt-PT" dirty="0" smtClean="0"/>
              <a:t>DICAS PARA USAR O POWERPOINT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2</a:t>
            </a:fld>
            <a:endParaRPr lang="pt-PT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7330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dirty="0" smtClean="0"/>
              <a:t>SABER USAR O POWERPOINT</a:t>
            </a:r>
            <a:endParaRPr lang="pt-PT" sz="8000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9200" y="1246750"/>
            <a:ext cx="7467600" cy="419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3</a:t>
            </a:fld>
            <a:endParaRPr lang="pt-PT"/>
          </a:p>
        </p:txBody>
      </p:sp>
      <p:sp>
        <p:nvSpPr>
          <p:cNvPr id="6" name="TextBox 5"/>
          <p:cNvSpPr txBox="1"/>
          <p:nvPr/>
        </p:nvSpPr>
        <p:spPr>
          <a:xfrm>
            <a:off x="1187624" y="332656"/>
            <a:ext cx="698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Abrir o Powerpoint</a:t>
            </a:r>
            <a:r>
              <a:rPr lang="pt-PT" sz="2400" dirty="0" smtClean="0"/>
              <a:t>: Iniciar &gt; Programas &gt; Powerpoint</a:t>
            </a:r>
            <a:endParaRPr lang="pt-PT" sz="2400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043608" y="1628800"/>
            <a:ext cx="1440160" cy="1152128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2367" y="2636912"/>
            <a:ext cx="79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smtClean="0"/>
              <a:t>Estilo dos slides</a:t>
            </a:r>
            <a:endParaRPr lang="pt-PT" dirty="0"/>
          </a:p>
        </p:txBody>
      </p:sp>
      <p:sp>
        <p:nvSpPr>
          <p:cNvPr id="11" name="TextBox 10"/>
          <p:cNvSpPr txBox="1"/>
          <p:nvPr/>
        </p:nvSpPr>
        <p:spPr>
          <a:xfrm>
            <a:off x="398282" y="873586"/>
            <a:ext cx="714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Novo slide</a:t>
            </a:r>
            <a:endParaRPr lang="pt-PT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1182132" y="1196752"/>
            <a:ext cx="1013604" cy="494764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2002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200" dirty="0" smtClean="0"/>
              <a:t>INSERIR APLICAÇÕES NUM DIAPOSITIVO</a:t>
            </a:r>
            <a:endParaRPr lang="pt-PT" sz="3200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1259632" y="1246750"/>
            <a:ext cx="7467600" cy="419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4</a:t>
            </a:fld>
            <a:endParaRPr lang="pt-PT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4427984" y="3284984"/>
            <a:ext cx="864096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652120" y="2924944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5940152" y="3212976"/>
            <a:ext cx="72008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4427984" y="3789040"/>
            <a:ext cx="864096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652120" y="393305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940152" y="3789040"/>
            <a:ext cx="64807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19872" y="305966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pt-PT" b="1" dirty="0" smtClean="0">
                <a:solidFill>
                  <a:schemeClr val="accent6">
                    <a:lumMod val="75000"/>
                  </a:schemeClr>
                </a:solidFill>
              </a:rPr>
              <a:t>abela</a:t>
            </a:r>
            <a:endParaRPr lang="pt-PT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20072" y="262762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accent6">
                    <a:lumMod val="75000"/>
                  </a:schemeClr>
                </a:solidFill>
              </a:rPr>
              <a:t>G</a:t>
            </a:r>
            <a:r>
              <a:rPr lang="pt-PT" b="1" dirty="0" smtClean="0">
                <a:solidFill>
                  <a:schemeClr val="accent6">
                    <a:lumMod val="75000"/>
                  </a:schemeClr>
                </a:solidFill>
              </a:rPr>
              <a:t>ráfico</a:t>
            </a:r>
            <a:endParaRPr lang="pt-PT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60232" y="2996952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accent6">
                    <a:lumMod val="75000"/>
                  </a:schemeClr>
                </a:solidFill>
              </a:rPr>
              <a:t>Gráfico smart art</a:t>
            </a:r>
            <a:endParaRPr lang="pt-PT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44208" y="386104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 smtClean="0">
                <a:solidFill>
                  <a:schemeClr val="accent6">
                    <a:lumMod val="75000"/>
                  </a:schemeClr>
                </a:solidFill>
              </a:rPr>
              <a:t>Clip multimédia</a:t>
            </a:r>
            <a:endParaRPr lang="pt-PT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20072" y="4283804"/>
            <a:ext cx="972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accent6">
                    <a:lumMod val="75000"/>
                  </a:schemeClr>
                </a:solidFill>
              </a:rPr>
              <a:t>Clip Art</a:t>
            </a:r>
            <a:endParaRPr lang="pt-PT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339752" y="3934797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 smtClean="0">
                <a:solidFill>
                  <a:schemeClr val="accent6">
                    <a:lumMod val="75000"/>
                  </a:schemeClr>
                </a:solidFill>
              </a:rPr>
              <a:t>Imagem a partir de ficheiro</a:t>
            </a:r>
            <a:endParaRPr lang="pt-PT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59632" y="260648"/>
            <a:ext cx="6984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Clicar sobre o ícone &gt; selecionar ficheiro na fonte &gt; fazer duplo clic no ficheiro</a:t>
            </a:r>
            <a:endParaRPr lang="pt-PT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0127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3200" dirty="0" smtClean="0"/>
              <a:t>EXPLORAR A BARRA DE FERRAMENTAS DO POWERPOINT</a:t>
            </a:r>
            <a:endParaRPr lang="pt-PT" sz="32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9200" y="908720"/>
            <a:ext cx="7467600" cy="41984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5</a:t>
            </a:fld>
            <a:endParaRPr lang="pt-PT"/>
          </a:p>
        </p:txBody>
      </p:sp>
      <p:sp>
        <p:nvSpPr>
          <p:cNvPr id="6" name="TextBox 5"/>
          <p:cNvSpPr txBox="1"/>
          <p:nvPr/>
        </p:nvSpPr>
        <p:spPr>
          <a:xfrm>
            <a:off x="2483768" y="2852936"/>
            <a:ext cx="15121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 smtClean="0">
                <a:solidFill>
                  <a:schemeClr val="accent6">
                    <a:lumMod val="75000"/>
                  </a:schemeClr>
                </a:solidFill>
              </a:rPr>
              <a:t>Mover e excluir diapositivos</a:t>
            </a:r>
            <a:endParaRPr lang="pt-PT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Right Brace 10"/>
          <p:cNvSpPr/>
          <p:nvPr/>
        </p:nvSpPr>
        <p:spPr>
          <a:xfrm>
            <a:off x="2195736" y="1916832"/>
            <a:ext cx="432048" cy="2592288"/>
          </a:xfrm>
          <a:prstGeom prst="rightBrac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17" name="Oval 16"/>
          <p:cNvSpPr/>
          <p:nvPr/>
        </p:nvSpPr>
        <p:spPr>
          <a:xfrm>
            <a:off x="899592" y="692696"/>
            <a:ext cx="8064896" cy="1152128"/>
          </a:xfrm>
          <a:prstGeom prst="ellipse">
            <a:avLst/>
          </a:prstGeom>
          <a:noFill/>
          <a:ln w="53975" cmpd="sng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7308304" y="1700808"/>
            <a:ext cx="0" cy="792087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28184" y="2420888"/>
            <a:ext cx="22322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 smtClean="0">
                <a:solidFill>
                  <a:schemeClr val="accent6">
                    <a:lumMod val="75000"/>
                  </a:schemeClr>
                </a:solidFill>
              </a:rPr>
              <a:t>Barra de ferramentas:</a:t>
            </a:r>
          </a:p>
          <a:p>
            <a:pPr algn="ctr"/>
            <a:r>
              <a:rPr lang="pt-PT" sz="2000" b="1" i="1" dirty="0">
                <a:solidFill>
                  <a:schemeClr val="accent6">
                    <a:lumMod val="75000"/>
                  </a:schemeClr>
                </a:solidFill>
              </a:rPr>
              <a:t>d</a:t>
            </a:r>
            <a:r>
              <a:rPr lang="pt-PT" sz="2000" b="1" i="1" dirty="0" smtClean="0">
                <a:solidFill>
                  <a:schemeClr val="accent6">
                    <a:lumMod val="75000"/>
                  </a:schemeClr>
                </a:solidFill>
              </a:rPr>
              <a:t>esign</a:t>
            </a:r>
            <a:r>
              <a:rPr lang="pt-PT" sz="2000" b="1" dirty="0" smtClean="0">
                <a:solidFill>
                  <a:schemeClr val="accent6">
                    <a:lumMod val="75000"/>
                  </a:schemeClr>
                </a:solidFill>
              </a:rPr>
              <a:t>; animação de  tópicos; transição de diapositivos; inserção de hiperligações, vídeo, áudio</a:t>
            </a:r>
            <a:endParaRPr lang="pt-PT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9192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7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41" t="86516" b="1101"/>
          <a:stretch/>
        </p:blipFill>
        <p:spPr bwMode="auto">
          <a:xfrm>
            <a:off x="1259632" y="2060848"/>
            <a:ext cx="7105855" cy="2310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6</a:t>
            </a:fld>
            <a:endParaRPr lang="pt-PT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907704" y="1340768"/>
            <a:ext cx="0" cy="1656184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411760" y="3429000"/>
            <a:ext cx="0" cy="1728192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879812" y="1628800"/>
            <a:ext cx="504056" cy="1512168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275856" y="3429000"/>
            <a:ext cx="792088" cy="1512168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7584" y="940658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 smtClean="0">
                <a:solidFill>
                  <a:schemeClr val="accent6">
                    <a:lumMod val="75000"/>
                  </a:schemeClr>
                </a:solidFill>
              </a:rPr>
              <a:t>Normal</a:t>
            </a:r>
            <a:endParaRPr lang="pt-PT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15816" y="1084674"/>
            <a:ext cx="2268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 smtClean="0">
                <a:solidFill>
                  <a:schemeClr val="accent6">
                    <a:lumMod val="75000"/>
                  </a:schemeClr>
                </a:solidFill>
              </a:rPr>
              <a:t>Modo de leitura</a:t>
            </a:r>
            <a:endParaRPr lang="pt-PT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42129" y="4956375"/>
            <a:ext cx="2304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 smtClean="0">
                <a:solidFill>
                  <a:schemeClr val="accent6">
                    <a:lumMod val="75000"/>
                  </a:schemeClr>
                </a:solidFill>
              </a:rPr>
              <a:t>Apresentação de diapositivos (ecrã inteiro)</a:t>
            </a:r>
            <a:endParaRPr lang="pt-PT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39652" y="5167197"/>
            <a:ext cx="19442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 smtClean="0">
                <a:solidFill>
                  <a:schemeClr val="accent6">
                    <a:lumMod val="75000"/>
                  </a:schemeClr>
                </a:solidFill>
              </a:rPr>
              <a:t>Organização de diapositivos (mover e exluir)</a:t>
            </a:r>
            <a:endParaRPr lang="pt-PT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3851920" y="4725144"/>
            <a:ext cx="2376263" cy="1457716"/>
          </a:xfrm>
          <a:prstGeom prst="ellipse">
            <a:avLst/>
          </a:pr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7488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dirty="0" smtClean="0"/>
              <a:t>INSERIR UMA HIPERLIGAÇÃO</a:t>
            </a:r>
            <a:endParaRPr lang="pt-PT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731837"/>
            <a:ext cx="8229600" cy="4785395"/>
          </a:xfrm>
        </p:spPr>
        <p:txBody>
          <a:bodyPr>
            <a:normAutofit fontScale="77500" lnSpcReduction="20000"/>
          </a:bodyPr>
          <a:lstStyle/>
          <a:p>
            <a:r>
              <a:rPr lang="pt-PT" sz="3000" dirty="0" smtClean="0"/>
              <a:t>Para saberes mais sobre o Powerpoint consulta o sítio da </a:t>
            </a:r>
            <a:r>
              <a:rPr lang="pt-PT" sz="3000" dirty="0" smtClean="0">
                <a:hlinkClick r:id="rId2"/>
              </a:rPr>
              <a:t>microsoft</a:t>
            </a:r>
            <a:r>
              <a:rPr lang="pt-PT" sz="3000" dirty="0" smtClean="0"/>
              <a:t>.</a:t>
            </a:r>
          </a:p>
          <a:p>
            <a:pPr lvl="1"/>
            <a:r>
              <a:rPr lang="pt-PT" sz="2600" b="1" dirty="0" smtClean="0">
                <a:solidFill>
                  <a:srgbClr val="0070C0"/>
                </a:solidFill>
              </a:rPr>
              <a:t>Seleciona a palavra onde queres ativar a hiperligação.</a:t>
            </a:r>
          </a:p>
          <a:p>
            <a:pPr lvl="1"/>
            <a:r>
              <a:rPr lang="pt-PT" sz="2600" b="1" dirty="0" smtClean="0">
                <a:solidFill>
                  <a:srgbClr val="0070C0"/>
                </a:solidFill>
              </a:rPr>
              <a:t>Na barra de ferramentas, escolhe INSERIR e HIPERLIGAÇÃO.</a:t>
            </a:r>
          </a:p>
          <a:p>
            <a:endParaRPr lang="pt-PT" sz="2600" dirty="0"/>
          </a:p>
          <a:p>
            <a:endParaRPr lang="pt-PT" sz="2600" dirty="0" smtClean="0"/>
          </a:p>
          <a:p>
            <a:endParaRPr lang="pt-PT" sz="2600" dirty="0"/>
          </a:p>
          <a:p>
            <a:pPr marL="0" indent="0">
              <a:buNone/>
            </a:pPr>
            <a:endParaRPr lang="pt-PT" sz="2600" dirty="0" smtClean="0"/>
          </a:p>
          <a:p>
            <a:endParaRPr lang="pt-PT" sz="2600" dirty="0"/>
          </a:p>
          <a:p>
            <a:endParaRPr lang="pt-PT" sz="2600" dirty="0" smtClean="0"/>
          </a:p>
          <a:p>
            <a:endParaRPr lang="pt-PT" sz="2600" dirty="0"/>
          </a:p>
          <a:p>
            <a:endParaRPr lang="pt-PT" sz="2600" dirty="0" smtClean="0"/>
          </a:p>
          <a:p>
            <a:endParaRPr lang="pt-PT" sz="2600" dirty="0" smtClean="0"/>
          </a:p>
          <a:p>
            <a:pPr lvl="1"/>
            <a:r>
              <a:rPr lang="pt-PT" sz="2600" b="1" dirty="0" smtClean="0">
                <a:solidFill>
                  <a:srgbClr val="0070C0"/>
                </a:solidFill>
              </a:rPr>
              <a:t>Abre a página da internet  que queres – o endereço aparece automaticamente  na janela da hiperligação &gt; Clica OK.</a:t>
            </a:r>
          </a:p>
          <a:p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7</a:t>
            </a:fld>
            <a:endParaRPr lang="pt-PT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7" r="52094" b="48588"/>
          <a:stretch/>
        </p:blipFill>
        <p:spPr bwMode="auto">
          <a:xfrm>
            <a:off x="2013848" y="2060848"/>
            <a:ext cx="5078432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1470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55576" y="3068960"/>
            <a:ext cx="7772400" cy="1362075"/>
          </a:xfrm>
        </p:spPr>
        <p:txBody>
          <a:bodyPr/>
          <a:lstStyle/>
          <a:p>
            <a:pPr algn="ctr"/>
            <a:r>
              <a:rPr lang="pt-PT" dirty="0" smtClean="0"/>
              <a:t>DICAS PARA UMA BOA APRESENTAÇÃO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8</a:t>
            </a:fld>
            <a:endParaRPr lang="pt-PT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2582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dirty="0"/>
              <a:t>PLANEAR A ESTRUTURA DA </a:t>
            </a:r>
            <a:r>
              <a:rPr lang="pt-PT" sz="3200" dirty="0" smtClean="0"/>
              <a:t>APRESENTAÇÃO</a:t>
            </a:r>
            <a:endParaRPr lang="pt-PT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Diapositivo de rosto</a:t>
            </a:r>
          </a:p>
          <a:p>
            <a:pPr lvl="1"/>
            <a:r>
              <a:rPr lang="pt-PT" dirty="0" smtClean="0"/>
              <a:t>Título</a:t>
            </a:r>
            <a:r>
              <a:rPr lang="pt-PT" dirty="0"/>
              <a:t>, subtítulo</a:t>
            </a:r>
          </a:p>
          <a:p>
            <a:pPr lvl="1"/>
            <a:r>
              <a:rPr lang="pt-PT" dirty="0"/>
              <a:t>Autor, disciplina</a:t>
            </a:r>
          </a:p>
          <a:p>
            <a:pPr lvl="1"/>
            <a:r>
              <a:rPr lang="pt-PT" dirty="0" smtClean="0"/>
              <a:t>Data</a:t>
            </a:r>
          </a:p>
          <a:p>
            <a:r>
              <a:rPr lang="pt-PT" dirty="0" smtClean="0"/>
              <a:t>Diapositivo de sumário </a:t>
            </a:r>
          </a:p>
          <a:p>
            <a:pPr lvl="1"/>
            <a:r>
              <a:rPr lang="pt-PT" dirty="0" smtClean="0"/>
              <a:t>Sumariar os assuntos a abordar</a:t>
            </a:r>
          </a:p>
          <a:p>
            <a:r>
              <a:rPr lang="pt-PT" dirty="0" smtClean="0"/>
              <a:t>Diapositivos do corpo do trabalho </a:t>
            </a:r>
          </a:p>
          <a:p>
            <a:pPr lvl="1"/>
            <a:r>
              <a:rPr lang="pt-PT" dirty="0" smtClean="0"/>
              <a:t>Planear n.º de diapositivos e a distribuição da informação</a:t>
            </a:r>
          </a:p>
          <a:p>
            <a:r>
              <a:rPr lang="pt-PT" dirty="0" smtClean="0"/>
              <a:t>Diapositivo de conclusão</a:t>
            </a:r>
          </a:p>
          <a:p>
            <a:pPr lvl="1"/>
            <a:r>
              <a:rPr lang="pt-PT" dirty="0" smtClean="0"/>
              <a:t>Síntese das ideias principais</a:t>
            </a:r>
          </a:p>
          <a:p>
            <a:pPr lvl="1"/>
            <a:r>
              <a:rPr lang="pt-PT" dirty="0" smtClean="0"/>
              <a:t>Tópicos para reflexão do público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9</a:t>
            </a:fld>
            <a:endParaRPr lang="pt-PT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5423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3200" dirty="0" smtClean="0"/>
              <a:t>PLANEAR A CONSTRUÇÃO DOS DIAPOSITIVOS</a:t>
            </a:r>
            <a:endParaRPr lang="pt-PT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385664"/>
            <a:ext cx="7467600" cy="4419600"/>
          </a:xfrm>
        </p:spPr>
        <p:txBody>
          <a:bodyPr/>
          <a:lstStyle/>
          <a:p>
            <a:r>
              <a:rPr lang="pt-PT" sz="3200" dirty="0" smtClean="0"/>
              <a:t>Usa:</a:t>
            </a:r>
          </a:p>
          <a:p>
            <a:pPr lvl="1"/>
            <a:r>
              <a:rPr lang="pt-PT" sz="2400" dirty="0"/>
              <a:t>Tópicos e palavras chave em vez de frases</a:t>
            </a:r>
          </a:p>
          <a:p>
            <a:pPr lvl="1"/>
            <a:r>
              <a:rPr lang="pt-PT" sz="2400" dirty="0"/>
              <a:t>Máximo de 4 a 6 pontos por </a:t>
            </a:r>
            <a:r>
              <a:rPr lang="pt-PT" sz="2400" dirty="0" smtClean="0"/>
              <a:t>diapositivo</a:t>
            </a:r>
          </a:p>
          <a:p>
            <a:pPr marL="457200" lvl="1" indent="0">
              <a:buNone/>
            </a:pPr>
            <a:endParaRPr lang="pt-PT" dirty="0" smtClean="0"/>
          </a:p>
          <a:p>
            <a:r>
              <a:rPr lang="pt-PT" sz="3200" dirty="0" smtClean="0"/>
              <a:t>Evita:</a:t>
            </a:r>
            <a:r>
              <a:rPr lang="pt-PT" dirty="0" smtClean="0"/>
              <a:t> </a:t>
            </a:r>
          </a:p>
          <a:p>
            <a:pPr lvl="1"/>
            <a:r>
              <a:rPr lang="pt-PT" sz="2400" dirty="0" smtClean="0"/>
              <a:t>Excesso de palavras por diapositivo, isto é, texto corrido e extenso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10</a:t>
            </a:fld>
            <a:endParaRPr lang="pt-PT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2000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dirty="0" smtClean="0"/>
              <a:t>UM MAU EXEMPLO</a:t>
            </a:r>
            <a:endParaRPr lang="pt-PT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PT" sz="3200" dirty="0" smtClean="0"/>
              <a:t>Este diapositivo contém demasiadas palavras. Em vez de estar escrito em forma de tópicos/pontos, apresenta texto corrido, o qual é de difícil leitura quer para o público quer para quem está a apresentar. Embora as marcas correspondam a dois pontos diferentes, é muito difícil compreendê-los. Resumindo: o público gastará mais tempo a ler que a ouvir.</a:t>
            </a:r>
          </a:p>
          <a:p>
            <a:pPr algn="just"/>
            <a:r>
              <a:rPr lang="pt-PT" sz="18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Tanto o tamanho como a cor da letra são inadequados, pois dificultam a visualização. O público estará mais preocupado em ler do que em ouvir.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11</a:t>
            </a:fld>
            <a:endParaRPr lang="pt-PT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1071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dirty="0" smtClean="0"/>
              <a:t>PLANEAR TIPOS, TAMANHOS  E CORES DOS CARACTERES</a:t>
            </a:r>
            <a:endParaRPr lang="pt-PT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PT" sz="3200" dirty="0" smtClean="0"/>
              <a:t>Usa</a:t>
            </a:r>
            <a:r>
              <a:rPr lang="pt-PT" dirty="0" smtClean="0"/>
              <a:t>:</a:t>
            </a:r>
          </a:p>
          <a:p>
            <a:pPr lvl="1"/>
            <a:r>
              <a:rPr lang="pt-PT" sz="2400" dirty="0" smtClean="0"/>
              <a:t>tipos de letra normais: Times New Roman, Arial, Calibri</a:t>
            </a:r>
          </a:p>
          <a:p>
            <a:pPr lvl="1"/>
            <a:r>
              <a:rPr lang="pt-PT" sz="2400" dirty="0"/>
              <a:t>t</a:t>
            </a:r>
            <a:r>
              <a:rPr lang="pt-PT" sz="2400" dirty="0" smtClean="0"/>
              <a:t>amanhos de letra legíveis</a:t>
            </a:r>
          </a:p>
          <a:p>
            <a:pPr lvl="1"/>
            <a:r>
              <a:rPr lang="pt-PT" sz="2400" dirty="0" smtClean="0"/>
              <a:t>tamanhos diferentes para títulos e subtítulos, pontos e subpontos</a:t>
            </a:r>
          </a:p>
          <a:p>
            <a:pPr lvl="1"/>
            <a:r>
              <a:rPr lang="pt-PT" sz="2400" dirty="0"/>
              <a:t>c</a:t>
            </a:r>
            <a:r>
              <a:rPr lang="pt-PT" sz="2400" dirty="0" smtClean="0"/>
              <a:t>ores de letra que contrastem com o fundo</a:t>
            </a:r>
          </a:p>
          <a:p>
            <a:pPr lvl="1"/>
            <a:r>
              <a:rPr lang="pt-PT" sz="2400" dirty="0"/>
              <a:t>c</a:t>
            </a:r>
            <a:r>
              <a:rPr lang="pt-PT" sz="2400" dirty="0" smtClean="0"/>
              <a:t>ores lógicas:</a:t>
            </a:r>
          </a:p>
          <a:p>
            <a:pPr lvl="2"/>
            <a:r>
              <a:rPr lang="pt-PT" sz="2000" b="1" dirty="0" smtClean="0">
                <a:solidFill>
                  <a:schemeClr val="accent4">
                    <a:lumMod val="50000"/>
                  </a:schemeClr>
                </a:solidFill>
              </a:rPr>
              <a:t>TÍTULO </a:t>
            </a:r>
          </a:p>
          <a:p>
            <a:pPr lvl="2"/>
            <a:r>
              <a:rPr lang="pt-PT" sz="2000" b="1" dirty="0" smtClean="0">
                <a:solidFill>
                  <a:srgbClr val="0070C0"/>
                </a:solidFill>
              </a:rPr>
              <a:t>Subtítulo </a:t>
            </a:r>
          </a:p>
          <a:p>
            <a:pPr lvl="2"/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Para enfatizar uma palavra ou expressão (pontualmente)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12</a:t>
            </a:fld>
            <a:endParaRPr lang="pt-PT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7510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dirty="0" smtClean="0">
                <a:effectLst/>
              </a:rPr>
              <a:t>BONS CONSELHOS</a:t>
            </a:r>
            <a:endParaRPr lang="pt-PT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764704"/>
            <a:ext cx="7467600" cy="4419600"/>
          </a:xfrm>
        </p:spPr>
        <p:txBody>
          <a:bodyPr>
            <a:normAutofit lnSpcReduction="10000"/>
          </a:bodyPr>
          <a:lstStyle/>
          <a:p>
            <a:pPr algn="just"/>
            <a:r>
              <a:rPr lang="pt-PT" sz="3200" dirty="0" smtClean="0"/>
              <a:t>Não uses cores de </a:t>
            </a:r>
            <a:r>
              <a:rPr lang="pt-PT" sz="3200" b="1" dirty="0" smtClean="0">
                <a:solidFill>
                  <a:srgbClr val="FFFF00"/>
                </a:solidFill>
              </a:rPr>
              <a:t>l</a:t>
            </a:r>
            <a:r>
              <a:rPr lang="pt-PT" sz="32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e</a:t>
            </a:r>
            <a:r>
              <a:rPr lang="pt-PT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t</a:t>
            </a:r>
            <a:r>
              <a:rPr lang="pt-PT" sz="3200" b="1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ra</a:t>
            </a:r>
            <a:r>
              <a:rPr lang="pt-PT" sz="3200" dirty="0" smtClean="0"/>
              <a:t> que tornem o texto ilegível</a:t>
            </a:r>
          </a:p>
          <a:p>
            <a:pPr algn="just"/>
            <a:r>
              <a:rPr lang="pt-PT" sz="3200" dirty="0" smtClean="0"/>
              <a:t>Não uses fundos distrativos ou que dificultem a leitura</a:t>
            </a:r>
            <a:endParaRPr lang="pt-PT" sz="3200" dirty="0"/>
          </a:p>
          <a:p>
            <a:pPr algn="just"/>
            <a:r>
              <a:rPr lang="pt-PT" sz="3200" dirty="0" smtClean="0"/>
              <a:t>Não uses tamanhos </a:t>
            </a:r>
            <a:r>
              <a:rPr lang="pt-PT" sz="2000" dirty="0" smtClean="0"/>
              <a:t>demasiado pequenos</a:t>
            </a:r>
            <a:r>
              <a:rPr lang="pt-PT" sz="3200" dirty="0" smtClean="0"/>
              <a:t> ou </a:t>
            </a:r>
            <a:r>
              <a:rPr lang="pt-PT" sz="5400" dirty="0" smtClean="0"/>
              <a:t>demasiado grandes</a:t>
            </a:r>
            <a:r>
              <a:rPr lang="pt-PT" sz="3200" dirty="0" smtClean="0"/>
              <a:t> ou </a:t>
            </a:r>
            <a:r>
              <a:rPr lang="pt-PT" sz="3200" i="1" dirty="0" smtClean="0">
                <a:latin typeface="Freestyle Script" pitchFamily="66" charset="0"/>
                <a:cs typeface="David" pitchFamily="34" charset="-79"/>
              </a:rPr>
              <a:t>difíceis de ler</a:t>
            </a:r>
          </a:p>
          <a:p>
            <a:pPr algn="just"/>
            <a:r>
              <a:rPr lang="pt-PT" sz="3200" dirty="0" smtClean="0"/>
              <a:t>Usa MAIÚSCULAS só quando necessário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13</a:t>
            </a:fld>
            <a:endParaRPr lang="pt-PT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4814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dirty="0" smtClean="0"/>
              <a:t>ANIMAÇÕES DE SLIDES</a:t>
            </a:r>
            <a:endParaRPr lang="pt-PT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sz="3200" dirty="0" smtClean="0"/>
              <a:t>Mostra um tópico de cada vez</a:t>
            </a:r>
          </a:p>
          <a:p>
            <a:pPr lvl="1" algn="just"/>
            <a:r>
              <a:rPr lang="pt-PT" sz="2800" dirty="0"/>
              <a:t>Ajuda a não fugir do assunto</a:t>
            </a:r>
          </a:p>
          <a:p>
            <a:pPr lvl="1" algn="just"/>
            <a:r>
              <a:rPr lang="pt-PT" sz="2800" dirty="0"/>
              <a:t>Evita que o público leia previamente</a:t>
            </a:r>
          </a:p>
          <a:p>
            <a:pPr lvl="1" algn="just"/>
            <a:r>
              <a:rPr lang="pt-PT" sz="2800" dirty="0"/>
              <a:t>O público </a:t>
            </a:r>
            <a:r>
              <a:rPr lang="pt-PT" sz="2800" dirty="0" smtClean="0"/>
              <a:t>ouvirá </a:t>
            </a:r>
            <a:r>
              <a:rPr lang="pt-PT" sz="2800" dirty="0"/>
              <a:t>com mais atenção</a:t>
            </a:r>
          </a:p>
          <a:p>
            <a:pPr marL="0" indent="0" algn="just">
              <a:buNone/>
            </a:pPr>
            <a:endParaRPr lang="pt-PT" dirty="0" smtClean="0"/>
          </a:p>
          <a:p>
            <a:pPr algn="just"/>
            <a:r>
              <a:rPr lang="pt-PT" sz="3200" dirty="0" smtClean="0"/>
              <a:t>Não uses animações</a:t>
            </a:r>
            <a:r>
              <a:rPr lang="pt-PT" dirty="0" smtClean="0"/>
              <a:t> </a:t>
            </a:r>
            <a:r>
              <a:rPr lang="pt-PT" sz="3200" dirty="0" smtClean="0"/>
              <a:t>DISTRATIVAS</a:t>
            </a:r>
          </a:p>
          <a:p>
            <a:pPr marL="457200" lvl="1" indent="0">
              <a:buNone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14</a:t>
            </a:fld>
            <a:endParaRPr lang="pt-PT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3989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5257800"/>
            <a:ext cx="7962900" cy="1143000"/>
          </a:xfrm>
        </p:spPr>
        <p:txBody>
          <a:bodyPr/>
          <a:lstStyle/>
          <a:p>
            <a:r>
              <a:rPr lang="pt-PT" sz="3200" dirty="0" smtClean="0"/>
              <a:t>TRANSIÇÕES</a:t>
            </a:r>
            <a:endParaRPr lang="pt-PT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2060848"/>
            <a:ext cx="7323584" cy="3168352"/>
          </a:xfrm>
        </p:spPr>
        <p:txBody>
          <a:bodyPr>
            <a:noAutofit/>
          </a:bodyPr>
          <a:lstStyle/>
          <a:p>
            <a:pPr algn="just"/>
            <a:r>
              <a:rPr lang="pt-PT" sz="3200" dirty="0" smtClean="0"/>
              <a:t>Usa transições suaves que não saturem o público</a:t>
            </a:r>
          </a:p>
          <a:p>
            <a:pPr marL="0" indent="0">
              <a:buNone/>
            </a:pPr>
            <a:endParaRPr lang="pt-PT" sz="3200" dirty="0" smtClean="0"/>
          </a:p>
          <a:p>
            <a:pPr algn="just"/>
            <a:r>
              <a:rPr lang="pt-PT" sz="3200" dirty="0" smtClean="0"/>
              <a:t>Define o ritmo de passagem dos diapositivos se optares pela sua transição automática</a:t>
            </a:r>
            <a:endParaRPr lang="pt-PT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15</a:t>
            </a:fld>
            <a:endParaRPr lang="pt-PT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3774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dirty="0" smtClean="0"/>
              <a:t>REVISÃO DA APRESENTAÇÃO</a:t>
            </a:r>
            <a:endParaRPr lang="pt-PT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PT" sz="3900" dirty="0" smtClean="0"/>
              <a:t>Revê a tua apresentação quanto a:</a:t>
            </a:r>
          </a:p>
          <a:p>
            <a:pPr lvl="1"/>
            <a:r>
              <a:rPr lang="pt-PT" sz="3200" dirty="0" smtClean="0"/>
              <a:t>Erros de ortografia e construção frásica</a:t>
            </a:r>
          </a:p>
          <a:p>
            <a:pPr lvl="1"/>
            <a:r>
              <a:rPr lang="pt-PT" sz="3200" dirty="0" smtClean="0"/>
              <a:t>Repetições de palavras</a:t>
            </a:r>
          </a:p>
          <a:p>
            <a:pPr lvl="1"/>
            <a:r>
              <a:rPr lang="pt-PT" sz="3200" dirty="0" smtClean="0"/>
              <a:t>Pontuação</a:t>
            </a:r>
          </a:p>
          <a:p>
            <a:pPr lvl="1"/>
            <a:r>
              <a:rPr lang="pt-PT" sz="3200" dirty="0" smtClean="0"/>
              <a:t>Animações de tópicos (sequência de aparecimento)</a:t>
            </a:r>
          </a:p>
          <a:p>
            <a:pPr lvl="1"/>
            <a:r>
              <a:rPr lang="pt-PT" sz="3200" dirty="0" smtClean="0"/>
              <a:t>Funcionamento das hiperligações  e das aplicações multimédia (acesso à internet)</a:t>
            </a:r>
          </a:p>
          <a:p>
            <a:pPr lvl="1"/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16</a:t>
            </a:fld>
            <a:endParaRPr lang="pt-PT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5254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87624" y="3140968"/>
            <a:ext cx="7239000" cy="1143000"/>
          </a:xfrm>
        </p:spPr>
        <p:txBody>
          <a:bodyPr/>
          <a:lstStyle/>
          <a:p>
            <a:pPr algn="ctr"/>
            <a:r>
              <a:rPr lang="pt-PT" dirty="0" smtClean="0"/>
              <a:t>Bons ou maus exemplos?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17</a:t>
            </a:fld>
            <a:endParaRPr lang="pt-PT"/>
          </a:p>
        </p:txBody>
      </p:sp>
      <p:sp>
        <p:nvSpPr>
          <p:cNvPr id="9" name="TextBox 8"/>
          <p:cNvSpPr txBox="1"/>
          <p:nvPr/>
        </p:nvSpPr>
        <p:spPr>
          <a:xfrm>
            <a:off x="2987824" y="4581128"/>
            <a:ext cx="3672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smtClean="0"/>
              <a:t>VAMOS REFLETIR</a:t>
            </a:r>
            <a:endParaRPr lang="pt-PT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6061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dirty="0" smtClean="0"/>
              <a:t>FAUNA E FLORA DE SINTRA</a:t>
            </a:r>
            <a:endParaRPr lang="pt-PT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A </a:t>
            </a:r>
            <a:r>
              <a:rPr lang="pt-PT" b="1" dirty="0" smtClean="0">
                <a:effectLst/>
                <a:latin typeface="Times New Roman"/>
                <a:ea typeface="Times New Roman"/>
                <a:cs typeface="Times New Roman"/>
              </a:rPr>
              <a:t>Serra de Sintra 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tem uma </a:t>
            </a:r>
            <a:r>
              <a:rPr lang="pt-PT" u="sng" dirty="0" smtClean="0">
                <a:solidFill>
                  <a:srgbClr val="0000FF"/>
                </a:solidFill>
                <a:effectLst/>
                <a:latin typeface="Times New Roman"/>
                <a:ea typeface="Times New Roman"/>
                <a:cs typeface="Times New Roman"/>
                <a:hlinkClick r:id="rId2" tooltip="Fauna"/>
              </a:rPr>
              <a:t>fauna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 riquíssima, sendo exemplo dela, a </a:t>
            </a:r>
            <a:r>
              <a:rPr lang="pt-PT" u="sng" dirty="0" smtClean="0">
                <a:solidFill>
                  <a:srgbClr val="0000FF"/>
                </a:solidFill>
                <a:effectLst/>
                <a:latin typeface="Times New Roman"/>
                <a:ea typeface="Times New Roman"/>
                <a:cs typeface="Times New Roman"/>
                <a:hlinkClick r:id="rId3" tooltip="Raposa"/>
              </a:rPr>
              <a:t>raposa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, a </a:t>
            </a:r>
            <a:r>
              <a:rPr lang="pt-PT" u="sng" dirty="0" smtClean="0">
                <a:solidFill>
                  <a:srgbClr val="0000FF"/>
                </a:solidFill>
                <a:effectLst/>
                <a:latin typeface="Times New Roman"/>
                <a:ea typeface="Times New Roman"/>
                <a:cs typeface="Times New Roman"/>
                <a:hlinkClick r:id="rId4" tooltip="Gineta"/>
              </a:rPr>
              <a:t>gineta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, a </a:t>
            </a:r>
            <a:r>
              <a:rPr lang="pt-PT" u="sng" dirty="0" smtClean="0">
                <a:solidFill>
                  <a:srgbClr val="0000FF"/>
                </a:solidFill>
                <a:effectLst/>
                <a:latin typeface="Times New Roman"/>
                <a:ea typeface="Times New Roman"/>
                <a:cs typeface="Times New Roman"/>
                <a:hlinkClick r:id="rId5" tooltip="Toupeira"/>
              </a:rPr>
              <a:t>toupeira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, a </a:t>
            </a:r>
            <a:r>
              <a:rPr lang="pt-PT" u="sng" dirty="0" smtClean="0">
                <a:solidFill>
                  <a:srgbClr val="0000FF"/>
                </a:solidFill>
                <a:effectLst/>
                <a:latin typeface="Times New Roman"/>
                <a:ea typeface="Times New Roman"/>
                <a:cs typeface="Times New Roman"/>
                <a:hlinkClick r:id="rId6" tooltip="Salamandra (género)"/>
              </a:rPr>
              <a:t>salamandra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, o </a:t>
            </a:r>
            <a:r>
              <a:rPr lang="pt-PT" u="sng" dirty="0" smtClean="0">
                <a:solidFill>
                  <a:srgbClr val="0000FF"/>
                </a:solidFill>
                <a:effectLst/>
                <a:latin typeface="Times New Roman"/>
                <a:ea typeface="Times New Roman"/>
                <a:cs typeface="Times New Roman"/>
                <a:hlinkClick r:id="rId7" tooltip="Falcão peregrino"/>
              </a:rPr>
              <a:t>falcão peregrino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, a </a:t>
            </a:r>
            <a:r>
              <a:rPr lang="pt-PT" u="sng" dirty="0" smtClean="0">
                <a:solidFill>
                  <a:srgbClr val="0000FF"/>
                </a:solidFill>
                <a:effectLst/>
                <a:latin typeface="Times New Roman"/>
                <a:ea typeface="Times New Roman"/>
                <a:cs typeface="Times New Roman"/>
                <a:hlinkClick r:id="rId8" tooltip="Víbora"/>
              </a:rPr>
              <a:t>víbora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 e diversas espécies de </a:t>
            </a:r>
            <a:r>
              <a:rPr lang="pt-PT" u="sng" dirty="0" smtClean="0">
                <a:solidFill>
                  <a:srgbClr val="0000FF"/>
                </a:solidFill>
                <a:effectLst/>
                <a:latin typeface="Times New Roman"/>
                <a:ea typeface="Times New Roman"/>
                <a:cs typeface="Times New Roman"/>
                <a:hlinkClick r:id="rId9" tooltip="Répteis"/>
              </a:rPr>
              <a:t>répteis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 escamados. O seu clima é temperado com bastantes influências oceânicas, apresentando por isso uma pluviosidade superior em relação à restante área da Grande Lisboa. Daí resulta também uma vegetação única. Cerca de novecentas espécies de flora são autóctones e 10% são </a:t>
            </a:r>
            <a:r>
              <a:rPr lang="pt-PT" u="sng" dirty="0" smtClean="0">
                <a:solidFill>
                  <a:srgbClr val="0000FF"/>
                </a:solidFill>
                <a:effectLst/>
                <a:latin typeface="Times New Roman"/>
                <a:ea typeface="Times New Roman"/>
                <a:cs typeface="Times New Roman"/>
                <a:hlinkClick r:id="rId10" tooltip="Endemismos"/>
              </a:rPr>
              <a:t>endemismos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. Algumas delas são o </a:t>
            </a:r>
            <a:r>
              <a:rPr lang="pt-PT" u="sng" dirty="0" smtClean="0">
                <a:solidFill>
                  <a:srgbClr val="0000FF"/>
                </a:solidFill>
                <a:effectLst/>
                <a:latin typeface="Times New Roman"/>
                <a:ea typeface="Times New Roman"/>
                <a:cs typeface="Times New Roman"/>
                <a:hlinkClick r:id="rId11" tooltip="Carvalho"/>
              </a:rPr>
              <a:t>carvalho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, </a:t>
            </a:r>
            <a:r>
              <a:rPr lang="pt-PT" u="sng" dirty="0" smtClean="0">
                <a:solidFill>
                  <a:srgbClr val="0000FF"/>
                </a:solidFill>
                <a:effectLst/>
                <a:latin typeface="Times New Roman"/>
                <a:ea typeface="Times New Roman"/>
                <a:cs typeface="Times New Roman"/>
                <a:hlinkClick r:id="rId12" tooltip="Sobreiro"/>
              </a:rPr>
              <a:t>sobreiro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 e </a:t>
            </a:r>
            <a:r>
              <a:rPr lang="pt-PT" u="sng" dirty="0" smtClean="0">
                <a:solidFill>
                  <a:srgbClr val="0000FF"/>
                </a:solidFill>
                <a:effectLst/>
                <a:latin typeface="Times New Roman"/>
                <a:ea typeface="Times New Roman"/>
                <a:cs typeface="Times New Roman"/>
                <a:hlinkClick r:id="rId13" tooltip="Pinheiro-manso"/>
              </a:rPr>
              <a:t>pinheiro-manso</a:t>
            </a:r>
            <a:r>
              <a:rPr lang="pt-PT" dirty="0" smtClean="0">
                <a:effectLst/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PT" sz="2100" dirty="0">
                <a:ea typeface="Calibri"/>
                <a:cs typeface="Times New Roman"/>
                <a:hlinkClick r:id="rId14"/>
              </a:rPr>
              <a:t>http://</a:t>
            </a:r>
            <a:r>
              <a:rPr lang="pt-PT" sz="2100" dirty="0" smtClean="0">
                <a:ea typeface="Calibri"/>
                <a:cs typeface="Times New Roman"/>
                <a:hlinkClick r:id="rId14"/>
              </a:rPr>
              <a:t>pt.wikipedia.org/wiki/Serra_de_Sintra</a:t>
            </a:r>
            <a:r>
              <a:rPr lang="pt-PT" sz="2100" dirty="0" smtClean="0">
                <a:ea typeface="Calibri"/>
                <a:cs typeface="Times New Roman"/>
              </a:rPr>
              <a:t> (acesso em 21/05/2013)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pt-PT" sz="2800" dirty="0">
              <a:ea typeface="Calibri"/>
              <a:cs typeface="Times New Roman"/>
            </a:endParaRPr>
          </a:p>
          <a:p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18</a:t>
            </a:fld>
            <a:endParaRPr lang="pt-PT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0098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200" dirty="0" smtClean="0"/>
              <a:t>TÓPICOS DE REFLEXÃO</a:t>
            </a:r>
            <a:endParaRPr lang="pt-PT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87821"/>
            <a:ext cx="8229600" cy="5001419"/>
          </a:xfrm>
        </p:spPr>
        <p:txBody>
          <a:bodyPr>
            <a:noAutofit/>
          </a:bodyPr>
          <a:lstStyle/>
          <a:p>
            <a:r>
              <a:rPr lang="pt-PT" sz="3600" b="1" dirty="0" smtClean="0">
                <a:solidFill>
                  <a:schemeClr val="accent1">
                    <a:lumMod val="75000"/>
                  </a:schemeClr>
                </a:solidFill>
              </a:rPr>
              <a:t>Tópicos de reflexão:</a:t>
            </a:r>
          </a:p>
          <a:p>
            <a:pPr lvl="1"/>
            <a:r>
              <a:rPr lang="pt-PT" sz="3200" dirty="0" smtClean="0"/>
              <a:t>Apresentação da informação (tópicos/texto corrido)</a:t>
            </a:r>
          </a:p>
          <a:p>
            <a:pPr lvl="1"/>
            <a:r>
              <a:rPr lang="pt-PT" sz="3200" dirty="0" smtClean="0"/>
              <a:t>Tamanho dos caracteres</a:t>
            </a:r>
          </a:p>
          <a:p>
            <a:pPr lvl="1"/>
            <a:r>
              <a:rPr lang="pt-PT" sz="3200" dirty="0" smtClean="0"/>
              <a:t>Cores dos caracteres</a:t>
            </a:r>
          </a:p>
          <a:p>
            <a:pPr lvl="1"/>
            <a:r>
              <a:rPr lang="pt-PT" sz="3200" dirty="0" smtClean="0"/>
              <a:t>Espaçamento entre linhas</a:t>
            </a:r>
          </a:p>
          <a:p>
            <a:pPr lvl="1"/>
            <a:r>
              <a:rPr lang="pt-PT" sz="3200" dirty="0" smtClean="0"/>
              <a:t>Originalidade do texto</a:t>
            </a:r>
          </a:p>
          <a:p>
            <a:pPr lvl="1"/>
            <a:r>
              <a:rPr lang="pt-PT" sz="3200" dirty="0" smtClean="0"/>
              <a:t>Fiabilidade da fonte de informação</a:t>
            </a:r>
            <a:endParaRPr lang="pt-PT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19</a:t>
            </a:fld>
            <a:endParaRPr lang="pt-PT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040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600" dirty="0" smtClean="0"/>
              <a:t>WEBGRAFIA</a:t>
            </a:r>
            <a:endParaRPr lang="pt-PT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013" lvl="0" indent="0">
              <a:buNone/>
            </a:pPr>
            <a:r>
              <a:rPr lang="pt-PT" dirty="0">
                <a:solidFill>
                  <a:srgbClr val="002060"/>
                </a:solidFill>
                <a:hlinkClick r:id="rId2"/>
              </a:rPr>
              <a:t>http://</a:t>
            </a:r>
            <a:r>
              <a:rPr lang="pt-PT" dirty="0" smtClean="0">
                <a:solidFill>
                  <a:srgbClr val="002060"/>
                </a:solidFill>
                <a:hlinkClick r:id="rId2"/>
              </a:rPr>
              <a:t>www.slideshare.net/dimmisue/aprender-a-fazer-slides-com-o-power-point</a:t>
            </a:r>
            <a:r>
              <a:rPr lang="pt-PT" dirty="0" smtClean="0">
                <a:solidFill>
                  <a:srgbClr val="002060"/>
                </a:solidFill>
              </a:rPr>
              <a:t> (</a:t>
            </a:r>
            <a:r>
              <a:rPr lang="pt-PT" dirty="0">
                <a:solidFill>
                  <a:srgbClr val="002060"/>
                </a:solidFill>
              </a:rPr>
              <a:t>acesso em </a:t>
            </a:r>
            <a:r>
              <a:rPr lang="pt-PT" dirty="0" smtClean="0">
                <a:solidFill>
                  <a:srgbClr val="002060"/>
                </a:solidFill>
              </a:rPr>
              <a:t>28/12/2011)</a:t>
            </a:r>
            <a:endParaRPr lang="pt-PT" dirty="0">
              <a:solidFill>
                <a:srgbClr val="002060"/>
              </a:solidFill>
              <a:hlinkClick r:id="rId3"/>
            </a:endParaRPr>
          </a:p>
          <a:p>
            <a:pPr marL="354013" lvl="0" indent="0">
              <a:buNone/>
            </a:pPr>
            <a:r>
              <a:rPr lang="pt-PT" dirty="0" smtClean="0">
                <a:solidFill>
                  <a:srgbClr val="002060"/>
                </a:solidFill>
                <a:hlinkClick r:id="rId4"/>
              </a:rPr>
              <a:t>http</a:t>
            </a:r>
            <a:r>
              <a:rPr lang="pt-PT" dirty="0">
                <a:solidFill>
                  <a:srgbClr val="002060"/>
                </a:solidFill>
                <a:hlinkClick r:id="rId4"/>
              </a:rPr>
              <a:t>://</a:t>
            </a:r>
            <a:r>
              <a:rPr lang="pt-PT" dirty="0" smtClean="0">
                <a:solidFill>
                  <a:srgbClr val="002060"/>
                </a:solidFill>
                <a:hlinkClick r:id="rId4"/>
              </a:rPr>
              <a:t>office.microsoft.com/pt-br/powerpoint-help/criar-uma-apresentacao-basica-em-powerpoint-2007-HA010194282.aspx</a:t>
            </a:r>
            <a:r>
              <a:rPr lang="pt-PT" dirty="0" smtClean="0">
                <a:solidFill>
                  <a:srgbClr val="002060"/>
                </a:solidFill>
              </a:rPr>
              <a:t> (</a:t>
            </a:r>
            <a:r>
              <a:rPr lang="pt-PT" dirty="0">
                <a:solidFill>
                  <a:srgbClr val="002060"/>
                </a:solidFill>
              </a:rPr>
              <a:t>acesso em </a:t>
            </a:r>
            <a:r>
              <a:rPr lang="pt-PT" dirty="0" smtClean="0">
                <a:solidFill>
                  <a:srgbClr val="002060"/>
                </a:solidFill>
              </a:rPr>
              <a:t>08/1/2012)</a:t>
            </a:r>
            <a:endParaRPr lang="pt-PT" dirty="0">
              <a:solidFill>
                <a:srgbClr val="002060"/>
              </a:solidFill>
              <a:hlinkClick r:id="rId5"/>
            </a:endParaRPr>
          </a:p>
          <a:p>
            <a:r>
              <a:rPr lang="pt-PT" dirty="0" smtClean="0">
                <a:solidFill>
                  <a:srgbClr val="002060"/>
                </a:solidFill>
                <a:hlinkClick r:id="rId6"/>
              </a:rPr>
              <a:t>http://pt.wikipedia.org/wiki/Serra_de_Sintra</a:t>
            </a:r>
            <a:r>
              <a:rPr lang="pt-PT" dirty="0" smtClean="0">
                <a:solidFill>
                  <a:srgbClr val="002060"/>
                </a:solidFill>
              </a:rPr>
              <a:t> (</a:t>
            </a:r>
            <a:r>
              <a:rPr lang="pt-PT" dirty="0">
                <a:solidFill>
                  <a:srgbClr val="002060"/>
                </a:solidFill>
              </a:rPr>
              <a:t>acesso em 10/1/2012)</a:t>
            </a:r>
            <a:endParaRPr lang="pt-PT" dirty="0" smtClean="0"/>
          </a:p>
          <a:p>
            <a:endParaRPr lang="pt-PT" dirty="0" smtClean="0"/>
          </a:p>
          <a:p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31964E-BB04-4792-805E-46A67BAFD247}" type="slidenum">
              <a:rPr lang="pt-PT" smtClean="0"/>
              <a:t>20</a:t>
            </a:fld>
            <a:endParaRPr lang="pt-PT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552" y="6356350"/>
            <a:ext cx="5480248" cy="365125"/>
          </a:xfrm>
        </p:spPr>
        <p:txBody>
          <a:bodyPr/>
          <a:lstStyle/>
          <a:p>
            <a:r>
              <a:rPr lang="pt-PT" dirty="0" smtClean="0"/>
              <a:t>ETEC NOVA LUZ – Prof.Carlos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6512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rmal">
  <a:themeElements>
    <a:clrScheme name="Thermal">
      <a:dk1>
        <a:srgbClr val="4D5B6B"/>
      </a:dk1>
      <a:lt1>
        <a:srgbClr val="FFFFFF"/>
      </a:lt1>
      <a:dk2>
        <a:srgbClr val="675D59"/>
      </a:dk2>
      <a:lt2>
        <a:srgbClr val="E8DED8"/>
      </a:lt2>
      <a:accent1>
        <a:srgbClr val="FF7605"/>
      </a:accent1>
      <a:accent2>
        <a:srgbClr val="7F7F7F"/>
      </a:accent2>
      <a:accent3>
        <a:srgbClr val="7F5185"/>
      </a:accent3>
      <a:accent4>
        <a:srgbClr val="89AAD3"/>
      </a:accent4>
      <a:accent5>
        <a:srgbClr val="8F5B4B"/>
      </a:accent5>
      <a:accent6>
        <a:srgbClr val="C84340"/>
      </a:accent6>
      <a:hlink>
        <a:srgbClr val="89AAD3"/>
      </a:hlink>
      <a:folHlink>
        <a:srgbClr val="795185"/>
      </a:folHlink>
    </a:clrScheme>
    <a:fontScheme name="Thermal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erm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63500" dist="38100" dir="81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101600" dist="63500" dir="81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000000"/>
            </a:lightRig>
          </a:scene3d>
          <a:sp3d>
            <a:bevelT h="190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lumMod val="125000"/>
              </a:schemeClr>
            </a:gs>
            <a:gs pos="55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90000"/>
                <a:satMod val="300000"/>
                <a:lumMod val="9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8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Thermal</Template>
  <TotalTime>292</TotalTime>
  <Words>843</Words>
  <Application>Microsoft Office PowerPoint</Application>
  <PresentationFormat>Apresentação na tela (4:3)</PresentationFormat>
  <Paragraphs>151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1" baseType="lpstr">
      <vt:lpstr>Thermal</vt:lpstr>
      <vt:lpstr>COMO FAZER UMA APRESENTAÇÃO EM POWERPOINT</vt:lpstr>
      <vt:lpstr>DICAS PARA USAR O POWERPOINT</vt:lpstr>
      <vt:lpstr>SABER USAR O POWERPOINT</vt:lpstr>
      <vt:lpstr>INSERIR APLICAÇÕES NUM DIAPOSITIVO</vt:lpstr>
      <vt:lpstr>EXPLORAR A BARRA DE FERRAMENTAS DO POWERPOINT</vt:lpstr>
      <vt:lpstr>Apresentação do PowerPoint</vt:lpstr>
      <vt:lpstr>INSERIR UMA HIPERLIGAÇÃO</vt:lpstr>
      <vt:lpstr>DICAS PARA UMA BOA APRESENTAÇÃO</vt:lpstr>
      <vt:lpstr>PLANEAR A ESTRUTURA DA APRESENTAÇÃO</vt:lpstr>
      <vt:lpstr>PLANEAR A CONSTRUÇÃO DOS DIAPOSITIVOS</vt:lpstr>
      <vt:lpstr>UM MAU EXEMPLO</vt:lpstr>
      <vt:lpstr>PLANEAR TIPOS, TAMANHOS  E CORES DOS CARACTERES</vt:lpstr>
      <vt:lpstr>BONS CONSELHOS</vt:lpstr>
      <vt:lpstr>ANIMAÇÕES DE SLIDES</vt:lpstr>
      <vt:lpstr>TRANSIÇÕES</vt:lpstr>
      <vt:lpstr>REVISÃO DA APRESENTAÇÃO</vt:lpstr>
      <vt:lpstr>Bons ou maus exemplos?</vt:lpstr>
      <vt:lpstr>FAUNA E FLORA DE SINTRA</vt:lpstr>
      <vt:lpstr>TÓPICOS DE REFLEXÃO</vt:lpstr>
      <vt:lpstr>WEBGRAFIA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Cristina</dc:creator>
  <cp:lastModifiedBy>TcadSilva</cp:lastModifiedBy>
  <cp:revision>44</cp:revision>
  <dcterms:created xsi:type="dcterms:W3CDTF">2012-01-10T20:23:55Z</dcterms:created>
  <dcterms:modified xsi:type="dcterms:W3CDTF">2013-11-05T21:24:22Z</dcterms:modified>
</cp:coreProperties>
</file>